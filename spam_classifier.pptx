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9DDBDF-B9A5-43A4-8DB4-AA8E9BEFC952}">
  <a:tblStyle styleId="{1E9DDBDF-B9A5-43A4-8DB4-AA8E9BEFC9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5.xml"/><Relationship Id="rId22" Type="http://schemas.openxmlformats.org/officeDocument/2006/relationships/font" Target="fonts/Roboto-italic.fntdata"/><Relationship Id="rId10" Type="http://schemas.openxmlformats.org/officeDocument/2006/relationships/slide" Target="slides/slide4.xml"/><Relationship Id="rId21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6f73a04f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6f73a0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6f82cdf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96f82cdf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73a04f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73a04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6f82cdf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96f82cdf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6f73a04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6f73a0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96f82cdf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96f82cdf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96f82cdf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96f82cdf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352075"/>
            <a:ext cx="8222100" cy="18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SMS Spam Classifier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using Machine Learning</a:t>
            </a:r>
            <a:endParaRPr b="1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421700"/>
            <a:ext cx="7707300" cy="23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Submitted By: </a:t>
            </a:r>
            <a:endParaRPr b="1"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Hiba Faiq [24k-0781]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Ruba Jamshed[24k-0950]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Atta Ur Rehman[24k-0969]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Course:</a:t>
            </a:r>
            <a:r>
              <a:rPr lang="en" sz="2400">
                <a:solidFill>
                  <a:srgbClr val="000000"/>
                </a:solidFill>
              </a:rPr>
              <a:t> AI lab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I</a:t>
            </a:r>
            <a:r>
              <a:rPr b="1" lang="en" sz="2400">
                <a:solidFill>
                  <a:srgbClr val="000000"/>
                </a:solidFill>
              </a:rPr>
              <a:t>nstructor:</a:t>
            </a:r>
            <a:r>
              <a:rPr lang="en" sz="2400">
                <a:solidFill>
                  <a:srgbClr val="000000"/>
                </a:solidFill>
              </a:rPr>
              <a:t> Atif Luqman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583425" y="3508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566400" y="1423650"/>
            <a:ext cx="8312400" cy="3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Mobile users receive many unwanted SMS messages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These include: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Advertisements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Fraud / phishing messages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Manual filtering is: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Time-consuming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Inefficient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👉 </a:t>
            </a:r>
            <a:r>
              <a:rPr b="1" lang="en" sz="2400"/>
              <a:t>Problem:</a:t>
            </a:r>
            <a:r>
              <a:rPr lang="en" sz="2400"/>
              <a:t> Automatically detect spam messages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Proposed Solution </a:t>
            </a:r>
            <a:endParaRPr sz="48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 </a:t>
            </a: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SMS Spam Classifier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 SMS message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Spam ⚠️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Spam ✅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Uses </a:t>
            </a: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+ NLP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Algorithm Used </a:t>
            </a:r>
            <a:endParaRPr sz="4800"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64750" y="2508275"/>
            <a:ext cx="4306800" cy="24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algorithm?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well for text classification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and efficient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Handles word frequencies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2" type="body"/>
          </p:nvPr>
        </p:nvSpPr>
        <p:spPr>
          <a:xfrm>
            <a:off x="4913875" y="2508275"/>
            <a:ext cx="4087200" cy="24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Idea: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Calculates probability of message being spam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words in the message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863100" y="1740575"/>
            <a:ext cx="7439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Multinomial Naive Bayes </a:t>
            </a:r>
            <a:endParaRPr sz="3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122475" y="357800"/>
            <a:ext cx="3092100" cy="16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System Workflow </a:t>
            </a:r>
            <a:endParaRPr sz="4800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226075" y="1913500"/>
            <a:ext cx="2808000" cy="30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Flow: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SMS → Preprocessing → Vectorization → Model → Prediction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3490225" y="1469575"/>
            <a:ext cx="54039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50"/>
              <a:t>What happens here:</a:t>
            </a:r>
            <a:endParaRPr b="1" sz="1850"/>
          </a:p>
          <a:p>
            <a:pPr indent="-3460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You load the dataset using Pandas</a:t>
            </a:r>
            <a:endParaRPr sz="1850"/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You convert labels into numbers:</a:t>
            </a:r>
            <a:endParaRPr sz="185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50"/>
              <a:t>       Spam = 1</a:t>
            </a:r>
            <a:endParaRPr sz="185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50"/>
              <a:t>       Ham = 0</a:t>
            </a:r>
            <a:endParaRPr sz="185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50"/>
              <a:t>Why needed:</a:t>
            </a:r>
            <a:endParaRPr b="1" sz="18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50"/>
              <a:t>Machine learning models </a:t>
            </a:r>
            <a:r>
              <a:rPr b="1" lang="en" sz="1850"/>
              <a:t>don’t understand text labels</a:t>
            </a:r>
            <a:r>
              <a:rPr lang="en" sz="1850"/>
              <a:t>, only numbers.</a:t>
            </a:r>
            <a:endParaRPr sz="18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605125" y="357800"/>
            <a:ext cx="51741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Processing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265500" y="137775"/>
            <a:ext cx="4045200" cy="16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Feature Extraction </a:t>
            </a:r>
            <a:endParaRPr sz="4800"/>
          </a:p>
        </p:txBody>
      </p:sp>
      <p:sp>
        <p:nvSpPr>
          <p:cNvPr id="102" name="Google Shape;102;p18"/>
          <p:cNvSpPr txBox="1"/>
          <p:nvPr>
            <p:ph idx="1" type="subTitle"/>
          </p:nvPr>
        </p:nvSpPr>
        <p:spPr>
          <a:xfrm>
            <a:off x="183700" y="1836975"/>
            <a:ext cx="4271100" cy="32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concept: CountVectorizer (Bag of Words)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does: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Converts text into numbers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Counts how many times each word appears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4733900" y="1408350"/>
            <a:ext cx="4271100" cy="3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400"/>
              <a:t>E</a:t>
            </a:r>
            <a:r>
              <a:rPr b="1" lang="en" sz="2000"/>
              <a:t>xample: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Message:</a:t>
            </a:r>
            <a:br>
              <a:rPr lang="en" sz="2000"/>
            </a:br>
            <a:r>
              <a:rPr lang="en" sz="2000"/>
              <a:t> “Win money now”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Becomes something like:</a:t>
            </a:r>
            <a:br>
              <a:rPr lang="en" sz="2000"/>
            </a:br>
            <a:r>
              <a:rPr lang="en" sz="2000"/>
              <a:t> [win=1, money=1, now=1]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/>
              <a:t>Why important: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👉 This is how text becomes usable for ML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265500" y="214300"/>
            <a:ext cx="4045200" cy="18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Model Training </a:t>
            </a:r>
            <a:endParaRPr sz="4800"/>
          </a:p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265500" y="2081800"/>
            <a:ext cx="4204500" cy="29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happens: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split: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80% training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 testing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learns from training data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2" type="body"/>
          </p:nvPr>
        </p:nvSpPr>
        <p:spPr>
          <a:xfrm>
            <a:off x="4939500" y="2081800"/>
            <a:ext cx="3837000" cy="280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important:</a:t>
            </a:r>
            <a:endParaRPr b="1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Model learns patterns like: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“free”, “win”, “prize” → spam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6230375" y="2770750"/>
            <a:ext cx="2694300" cy="23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326250" y="177650"/>
            <a:ext cx="85206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Confusion Matrix </a:t>
            </a:r>
            <a:endParaRPr sz="480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168400" y="2571750"/>
            <a:ext cx="6077400" cy="25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Meaning: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(True Positive):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Spam correctly detected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TN (True Negative):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Ham correctly detected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FP (False Positive):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Ham wrongly marked spam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 (False Negative):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Spam missed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8" name="Google Shape;118;p20"/>
          <p:cNvGraphicFramePr/>
          <p:nvPr/>
        </p:nvGraphicFramePr>
        <p:xfrm>
          <a:off x="475525" y="102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{1E9DDBDF-B9A5-43A4-8DB4-AA8E9BEFC952}</a:tableStyleId>
              </a:tblPr>
              <a:tblGrid>
                <a:gridCol w="2740700"/>
                <a:gridCol w="2740700"/>
                <a:gridCol w="2740700"/>
              </a:tblGrid>
              <a:tr h="5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Predicted Ham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Predicted Spam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Actual Ham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TN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FP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1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Actual Spam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FN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TP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20"/>
          <p:cNvSpPr txBox="1"/>
          <p:nvPr/>
        </p:nvSpPr>
        <p:spPr>
          <a:xfrm>
            <a:off x="6398750" y="2724825"/>
            <a:ext cx="2541300" cy="2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“Confusion matrix helps us understand how well the model is performing by showing correct and incorrect predictions.”</a:t>
            </a:r>
            <a:r>
              <a:rPr lang="en" sz="18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4975100" y="1316500"/>
            <a:ext cx="3597300" cy="3735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260225" y="1255250"/>
            <a:ext cx="4209600" cy="3367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944250" y="244925"/>
            <a:ext cx="7255500" cy="9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Performance Metrics </a:t>
            </a:r>
            <a:endParaRPr sz="4800"/>
          </a:p>
        </p:txBody>
      </p:sp>
      <p:sp>
        <p:nvSpPr>
          <p:cNvPr id="127" name="Google Shape;127;p21"/>
          <p:cNvSpPr txBox="1"/>
          <p:nvPr/>
        </p:nvSpPr>
        <p:spPr>
          <a:xfrm>
            <a:off x="443925" y="1423650"/>
            <a:ext cx="4128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200"/>
              <a:t>✅ 1. Accuracy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Overall correctness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/>
              <a:t>Formula:</a:t>
            </a:r>
            <a:br>
              <a:rPr b="1" lang="en" sz="2200"/>
            </a:br>
            <a:r>
              <a:rPr lang="en" sz="2200"/>
              <a:t> (TP + TN) / Total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👉 “Out of all messages, how many were correct?”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5036350" y="1347100"/>
            <a:ext cx="3429000" cy="3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200"/>
              <a:t>✅ 2. Precision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How many predicted spam are actually spam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/>
              <a:t>Formula:</a:t>
            </a:r>
            <a:br>
              <a:rPr b="1" lang="en" sz="2200"/>
            </a:br>
            <a:r>
              <a:rPr lang="en" sz="2200"/>
              <a:t> TP / (TP + FP)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👉 Important when you want </a:t>
            </a:r>
            <a:r>
              <a:rPr b="1" lang="en" sz="2200"/>
              <a:t>fewer false alarms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/>
          <p:nvPr/>
        </p:nvSpPr>
        <p:spPr>
          <a:xfrm>
            <a:off x="4990425" y="290850"/>
            <a:ext cx="3720000" cy="2801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250000" y="281400"/>
            <a:ext cx="3959700" cy="339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2"/>
          <p:cNvSpPr txBox="1"/>
          <p:nvPr>
            <p:ph type="title"/>
          </p:nvPr>
        </p:nvSpPr>
        <p:spPr>
          <a:xfrm>
            <a:off x="250000" y="281400"/>
            <a:ext cx="3959700" cy="4090800"/>
          </a:xfrm>
          <a:prstGeom prst="rect">
            <a:avLst/>
          </a:prstGeom>
          <a:solidFill>
            <a:srgbClr val="EFEFE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3. Recall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actual spam were detected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Formula:</a:t>
            </a:r>
            <a:b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TP / (TP + FN)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Important when you want to </a:t>
            </a: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catch all spam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4975100" y="281400"/>
            <a:ext cx="3551700" cy="27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200"/>
              <a:t>✅ 4. F1 Score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Balance between precision and recall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/>
              <a:t>Formula:</a:t>
            </a:r>
            <a:br>
              <a:rPr b="1" lang="en" sz="2200"/>
            </a:br>
            <a:r>
              <a:rPr lang="en" sz="2200"/>
              <a:t> 2 × (Precision × Recall) / (Precision + Recall)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4332175" y="3214700"/>
            <a:ext cx="4745700" cy="1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“These metrics help evaluate model performance. Precision focuses on accuracy of spam predictions, recall focuses on catching all spam, and F1 score balances both.”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idx="4294967295" type="title"/>
          </p:nvPr>
        </p:nvSpPr>
        <p:spPr>
          <a:xfrm>
            <a:off x="773700" y="193875"/>
            <a:ext cx="7596600" cy="7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2"/>
                </a:solidFill>
              </a:rPr>
              <a:t>Example Output </a:t>
            </a:r>
            <a:endParaRPr sz="4800">
              <a:solidFill>
                <a:schemeClr val="lt2"/>
              </a:solidFill>
            </a:endParaRPr>
          </a:p>
        </p:txBody>
      </p:sp>
      <p:pic>
        <p:nvPicPr>
          <p:cNvPr id="143" name="Google Shape;143;p23" title="sms_spam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350" y="1122100"/>
            <a:ext cx="4032715" cy="38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 title="sms_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07975"/>
            <a:ext cx="4671550" cy="32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4" title="sms_spa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0552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 title="email_sp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28925"/>
            <a:ext cx="264228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 title="twitter_sp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4975" y="2205450"/>
            <a:ext cx="2581276" cy="2785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1194400" y="136050"/>
            <a:ext cx="3250500" cy="2298000"/>
          </a:xfrm>
          <a:prstGeom prst="snip1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1315350" y="287250"/>
            <a:ext cx="27819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/>
              <a:t>Strengths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Fast and simple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Good accuracy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Real-time prediction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4943925" y="347725"/>
            <a:ext cx="3598500" cy="2857500"/>
          </a:xfrm>
          <a:prstGeom prst="snip1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5064875" y="423325"/>
            <a:ext cx="3159900" cy="26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/>
              <a:t>Limitations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Cannot fully understand context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May misclassify tricky messages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Depends on training data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279625" y="2676250"/>
            <a:ext cx="3598500" cy="2298000"/>
          </a:xfrm>
          <a:prstGeom prst="snip1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574525" y="2887750"/>
            <a:ext cx="3008700" cy="20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/>
              <a:t>Future Improvements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 TF-IDF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Deep learning models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Deploy as app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